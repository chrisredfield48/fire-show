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2891" y="314850"/>
            <a:ext cx="3696519" cy="45441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792025" y="1304657"/>
            <a:ext cx="3350400" cy="927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3F3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Отказоустойчивые и виртуальные локальные сети
</a:t>
            </a:r>
            <a:endParaRPr lang="en-US" sz="2200" dirty="0"/>
          </a:p>
        </p:txBody>
      </p:sp>
      <p:sp>
        <p:nvSpPr>
          <p:cNvPr id="5" name="Text 1"/>
          <p:cNvSpPr txBox="1"/>
          <p:nvPr/>
        </p:nvSpPr>
        <p:spPr>
          <a:xfrm>
            <a:off x="4768625" y="3117950"/>
            <a:ext cx="3350400" cy="11823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3F3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построить ЛВС, которая сохраняет связь при сбоях?
</a:t>
            </a:r>
            <a:endParaRPr lang="en-US" sz="900" dirty="0"/>
          </a:p>
        </p:txBody>
      </p:sp>
      <p:sp>
        <p:nvSpPr>
          <p:cNvPr id="6" name="Text 2"/>
          <p:cNvSpPr txBox="1"/>
          <p:nvPr/>
        </p:nvSpPr>
        <p:spPr>
          <a:xfrm>
            <a:off x="4792025" y="938075"/>
            <a:ext cx="3303600" cy="198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46" dirty="0">
                <a:solidFill>
                  <a:srgbClr val="F3F3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746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3311" y="305650"/>
            <a:ext cx="4069277" cy="45441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934400" y="1026950"/>
            <a:ext cx="3240000" cy="80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3F3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устойчивость сети критична
</a:t>
            </a:r>
            <a:endParaRPr lang="en-US" sz="2000" dirty="0"/>
          </a:p>
        </p:txBody>
      </p:sp>
      <p:sp>
        <p:nvSpPr>
          <p:cNvPr id="5" name="Text 1"/>
          <p:cNvSpPr txBox="1"/>
          <p:nvPr/>
        </p:nvSpPr>
        <p:spPr>
          <a:xfrm>
            <a:off x="934400" y="2983848"/>
            <a:ext cx="3240000" cy="11823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3F3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Сбой канала, коммутатора, маршрутизатора или питания не должен останавливать работу пользователей и сервисов. Отказоустойчивые решения уменьшают простой и сохраняют доступность сети даже при выходе из строя отдельных элементов.
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8502171" y="4758850"/>
            <a:ext cx="398700" cy="9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2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9000" y="1455018"/>
            <a:ext cx="3704100" cy="3393013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75200" y="2225050"/>
            <a:ext cx="2922600" cy="822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3F3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Резервные элементы
</a:t>
            </a:r>
            <a:pPr algn="l" indent="0" marL="0">
              <a:lnSpc>
                <a:spcPct val="115000"/>
              </a:lnSpc>
              <a:buNone/>
            </a:pPr>
            <a:r>
              <a:rPr lang="en-US" sz="500" dirty="0">
                <a:solidFill>
                  <a:srgbClr val="F3F3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3F3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Устойчивость начинается с избыточности: дублируются каналы, устройства и ключевые соединения. Это позволяет сети продолжать работу, когда один из элементов становится недоступным.
</a:t>
            </a:r>
            <a:endParaRPr lang="en-US" sz="900" dirty="0"/>
          </a:p>
        </p:txBody>
      </p:sp>
      <p:sp>
        <p:nvSpPr>
          <p:cNvPr id="5" name="Text 1"/>
          <p:cNvSpPr txBox="1"/>
          <p:nvPr/>
        </p:nvSpPr>
        <p:spPr>
          <a:xfrm>
            <a:off x="8502171" y="4758850"/>
            <a:ext cx="398700" cy="9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22" dirty="0"/>
          </a:p>
        </p:txBody>
      </p:sp>
      <p:sp>
        <p:nvSpPr>
          <p:cNvPr id="6" name="Text 2"/>
          <p:cNvSpPr txBox="1"/>
          <p:nvPr/>
        </p:nvSpPr>
        <p:spPr>
          <a:xfrm>
            <a:off x="775200" y="544625"/>
            <a:ext cx="7569900" cy="681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3F3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Избыточность и быстрое восстановление
</a:t>
            </a:r>
            <a:endParaRPr lang="en-US" sz="2200" dirty="0"/>
          </a:p>
        </p:txBody>
      </p:sp>
      <p:sp>
        <p:nvSpPr>
          <p:cNvPr id="7" name="Text 3"/>
          <p:cNvSpPr txBox="1"/>
          <p:nvPr/>
        </p:nvSpPr>
        <p:spPr>
          <a:xfrm>
            <a:off x="775200" y="3255776"/>
            <a:ext cx="2922600" cy="822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3F3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Обнаружение и переключение
</a:t>
            </a:r>
            <a:pPr algn="l" indent="0" marL="0">
              <a:lnSpc>
                <a:spcPct val="115000"/>
              </a:lnSpc>
              <a:buNone/>
            </a:pPr>
            <a:r>
              <a:rPr lang="en-US" sz="500" dirty="0">
                <a:solidFill>
                  <a:srgbClr val="F3F3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3F3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Отказ должен выявляться быстро по тайм-аутам, состоянию протоколов и потерям связности. Затем система автоматически переводит трафик на резерв, сокращая потери пакетов и сеансов.
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75200" y="544625"/>
            <a:ext cx="7569900" cy="681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3F3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Резервирование на уровнях L2 и L3
</a:t>
            </a:r>
            <a:endParaRPr lang="en-US" sz="2200" dirty="0"/>
          </a:p>
        </p:txBody>
      </p:sp>
      <p:sp>
        <p:nvSpPr>
          <p:cNvPr id="4" name="Text 1"/>
          <p:cNvSpPr txBox="1"/>
          <p:nvPr/>
        </p:nvSpPr>
        <p:spPr>
          <a:xfrm>
            <a:off x="704825" y="1884650"/>
            <a:ext cx="2046900" cy="2508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3F3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уровне L2 резервируют порты, линии и коммутаторы, чтобы сохранить физическую и канальную связность сегмента при локальном отказе.
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3548550" y="1884650"/>
            <a:ext cx="2046900" cy="2508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3F3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уровне L3 дублируют маршруты, шлюзы и таблицы маршрутизации. Это особенно важно для магистральных связей, выхода в интернет и межсегментного обмена.
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6392275" y="1884650"/>
            <a:ext cx="2046900" cy="2508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3F3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Практический смысл резервирования — убрать единую точку отказа. Для этого используют запасной uplink, два маршрутизатора для одного сегмента или второго провайдера.
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8502171" y="4758850"/>
            <a:ext cx="398700" cy="9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22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4350" y="335483"/>
            <a:ext cx="4798800" cy="4512934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775200" y="906775"/>
            <a:ext cx="2772600" cy="974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3F3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Виртуальный шлюз при отказе активного узла
</a:t>
            </a:r>
            <a:endParaRPr lang="en-US" sz="1800" dirty="0"/>
          </a:p>
        </p:txBody>
      </p:sp>
      <p:sp>
        <p:nvSpPr>
          <p:cNvPr id="6" name="Text 1"/>
          <p:cNvSpPr txBox="1"/>
          <p:nvPr/>
        </p:nvSpPr>
        <p:spPr>
          <a:xfrm>
            <a:off x="971755" y="2503425"/>
            <a:ext cx="2576100" cy="79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3F3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VRRP и схожие механизмы объединяют несколько маршрутизаторов в один виртуальный шлюз с общим IP-адресом. Активный узел обслуживает трафик, а резервный постоянно отслеживает его состояние.
</a:t>
            </a:r>
            <a:endParaRPr lang="en-US" sz="900" dirty="0"/>
          </a:p>
        </p:txBody>
      </p:sp>
      <p:sp>
        <p:nvSpPr>
          <p:cNvPr id="7" name="Text 2"/>
          <p:cNvSpPr txBox="1"/>
          <p:nvPr/>
        </p:nvSpPr>
        <p:spPr>
          <a:xfrm>
            <a:off x="971750" y="3503602"/>
            <a:ext cx="2576100" cy="79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3F3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Если мастер перестаёт отвечать, роль автоматически переходит другому устройству. Для хостов адрес шлюза не меняется, поэтому переключение происходит прозрачно и без перенастройки клиентов.
</a:t>
            </a:r>
            <a:endParaRPr lang="en-US" sz="900" dirty="0"/>
          </a:p>
        </p:txBody>
      </p:sp>
      <p:sp>
        <p:nvSpPr>
          <p:cNvPr id="8" name="Text 3"/>
          <p:cNvSpPr txBox="1"/>
          <p:nvPr/>
        </p:nvSpPr>
        <p:spPr>
          <a:xfrm>
            <a:off x="8502171" y="4758850"/>
            <a:ext cx="398700" cy="9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622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6375" y="2951704"/>
            <a:ext cx="8506800" cy="1894092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775200" y="544625"/>
            <a:ext cx="7569900" cy="681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3F3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VLAN как инструмент логической сегментации
</a:t>
            </a:r>
            <a:endParaRPr lang="en-US" sz="2200" dirty="0"/>
          </a:p>
        </p:txBody>
      </p:sp>
      <p:sp>
        <p:nvSpPr>
          <p:cNvPr id="6" name="Text 1"/>
          <p:cNvSpPr txBox="1"/>
          <p:nvPr/>
        </p:nvSpPr>
        <p:spPr>
          <a:xfrm>
            <a:off x="1110550" y="1917153"/>
            <a:ext cx="2772600" cy="594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14" dirty="0">
                <a:solidFill>
                  <a:srgbClr val="F3F3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VLAN разделяет одну физическую ЛВС на несколько логических доменов широковещания. Это повышает изоляцию отделов, уменьшает лишний трафик и упрощает управление доступом между группами устройств.
</a:t>
            </a:r>
            <a:endParaRPr lang="en-US" sz="814" dirty="0"/>
          </a:p>
        </p:txBody>
      </p:sp>
      <p:sp>
        <p:nvSpPr>
          <p:cNvPr id="7" name="Text 2"/>
          <p:cNvSpPr txBox="1"/>
          <p:nvPr/>
        </p:nvSpPr>
        <p:spPr>
          <a:xfrm>
            <a:off x="5468223" y="1917153"/>
            <a:ext cx="2772600" cy="594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16" dirty="0">
                <a:solidFill>
                  <a:srgbClr val="F3F3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транковых соединениях кадры различаются по тегам 802.1Q. Благодаря этому одна инфраструктура может обслуживать несколько VLAN одновременно, сохраняя порядок, управляемость и предсказуемость работы сети.
</a:t>
            </a:r>
            <a:endParaRPr lang="en-US" sz="816" dirty="0"/>
          </a:p>
        </p:txBody>
      </p:sp>
      <p:sp>
        <p:nvSpPr>
          <p:cNvPr id="8" name="Text 3"/>
          <p:cNvSpPr txBox="1"/>
          <p:nvPr/>
        </p:nvSpPr>
        <p:spPr>
          <a:xfrm>
            <a:off x="8502171" y="4758850"/>
            <a:ext cx="398700" cy="9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622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75200" y="544625"/>
            <a:ext cx="7569900" cy="681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3F3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Trunk, access и межвлановая маршрутизация
</a:t>
            </a:r>
            <a:endParaRPr lang="en-US" sz="2200" dirty="0"/>
          </a:p>
        </p:txBody>
      </p:sp>
      <p:sp>
        <p:nvSpPr>
          <p:cNvPr id="4" name="Text 1"/>
          <p:cNvSpPr txBox="1"/>
          <p:nvPr/>
        </p:nvSpPr>
        <p:spPr>
          <a:xfrm>
            <a:off x="775200" y="1690850"/>
            <a:ext cx="5675100" cy="681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3F3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Access-порт связывает устройство только с одной VLAN и используется там, где сегментация не требуется на уровне порта.
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775200" y="2802100"/>
            <a:ext cx="5675100" cy="681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3F3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Trunk переносит несколько VLAN по одному каналу с тегированием. Межвлановая маршрутизация выполняется на маршрутизаторе или L3-коммутаторе, который обеспечивает обмен между сегментами.
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775200" y="3913350"/>
            <a:ext cx="5675100" cy="681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3F3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 узким местам относятся отказ trunk-линии, перегрузка магистрали и ошибки в настройке native VLAN или ACL. Такие проблемы могут нарушить связность даже при наличии резервирования.
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8502171" y="4758850"/>
            <a:ext cx="398700" cy="9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622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500" y="1455728"/>
            <a:ext cx="5238300" cy="3391595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910822" y="2159813"/>
            <a:ext cx="2531100" cy="822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9" b="1" dirty="0">
                <a:solidFill>
                  <a:srgbClr val="F3F3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работает туннелирование
</a:t>
            </a:r>
            <a:pPr algn="l" indent="0" marL="0">
              <a:lnSpc>
                <a:spcPct val="115000"/>
              </a:lnSpc>
              <a:buNone/>
            </a:pPr>
            <a:r>
              <a:rPr lang="en-US" sz="477" dirty="0">
                <a:solidFill>
                  <a:srgbClr val="F3F3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l" indent="0" marL="0">
              <a:lnSpc>
                <a:spcPct val="115000"/>
              </a:lnSpc>
              <a:buNone/>
            </a:pPr>
            <a:r>
              <a:rPr lang="en-US" sz="859" dirty="0">
                <a:solidFill>
                  <a:srgbClr val="F3F3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Туннель инкапсулирует кадры или пакеты и переносит их через чужую физическую сеть. Внешняя инфраструктура может быть неоднородной, но логическая передача остаётся непрерывной.
</a:t>
            </a:r>
            <a:endParaRPr lang="en-US" sz="859" dirty="0"/>
          </a:p>
        </p:txBody>
      </p:sp>
      <p:sp>
        <p:nvSpPr>
          <p:cNvPr id="5" name="Text 1"/>
          <p:cNvSpPr txBox="1"/>
          <p:nvPr/>
        </p:nvSpPr>
        <p:spPr>
          <a:xfrm>
            <a:off x="8502171" y="4758850"/>
            <a:ext cx="398700" cy="9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622" dirty="0"/>
          </a:p>
        </p:txBody>
      </p:sp>
      <p:sp>
        <p:nvSpPr>
          <p:cNvPr id="6" name="Text 2"/>
          <p:cNvSpPr txBox="1"/>
          <p:nvPr/>
        </p:nvSpPr>
        <p:spPr>
          <a:xfrm>
            <a:off x="775200" y="544625"/>
            <a:ext cx="7569900" cy="681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3F3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Туннели и виртуальные каналы
</a:t>
            </a:r>
            <a:endParaRPr lang="en-US" sz="2200" dirty="0"/>
          </a:p>
        </p:txBody>
      </p:sp>
      <p:sp>
        <p:nvSpPr>
          <p:cNvPr id="7" name="Text 3"/>
          <p:cNvSpPr txBox="1"/>
          <p:nvPr/>
        </p:nvSpPr>
        <p:spPr>
          <a:xfrm>
            <a:off x="5910822" y="3320938"/>
            <a:ext cx="2531100" cy="822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9" b="1" dirty="0">
                <a:solidFill>
                  <a:srgbClr val="F3F3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 оно полезно
</a:t>
            </a:r>
            <a:pPr algn="l" indent="0" marL="0">
              <a:lnSpc>
                <a:spcPct val="115000"/>
              </a:lnSpc>
              <a:buNone/>
            </a:pPr>
            <a:r>
              <a:rPr lang="en-US" sz="477" dirty="0">
                <a:solidFill>
                  <a:srgbClr val="F3F3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l" indent="0" marL="0">
              <a:lnSpc>
                <a:spcPct val="115000"/>
              </a:lnSpc>
              <a:buNone/>
            </a:pPr>
            <a:r>
              <a:rPr lang="en-US" sz="859" dirty="0">
                <a:solidFill>
                  <a:srgbClr val="F3F3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Такой подход применяют для объединения удалённых площадок, построения виртуальных магистралей и расширения VLAN между сегментами. Сеть остаётся логически целостной, даже если физически она разделена.
</a:t>
            </a:r>
            <a:endParaRPr lang="en-US" sz="859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972" y="1948025"/>
            <a:ext cx="273600" cy="2432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3962" y="1953458"/>
            <a:ext cx="273600" cy="2432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668" y="3429876"/>
            <a:ext cx="268200" cy="2682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6643" y="3429876"/>
            <a:ext cx="268200" cy="268200"/>
          </a:xfrm>
          <a:prstGeom prst="rect">
            <a:avLst/>
          </a:prstGeom>
        </p:spPr>
      </p:pic>
      <p:sp>
        <p:nvSpPr>
          <p:cNvPr id="7" name="Text 0"/>
          <p:cNvSpPr txBox="1"/>
          <p:nvPr/>
        </p:nvSpPr>
        <p:spPr>
          <a:xfrm>
            <a:off x="8502171" y="4758850"/>
            <a:ext cx="398700" cy="9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622" dirty="0"/>
          </a:p>
        </p:txBody>
      </p:sp>
      <p:sp>
        <p:nvSpPr>
          <p:cNvPr id="8" name="Text 1"/>
          <p:cNvSpPr txBox="1"/>
          <p:nvPr/>
        </p:nvSpPr>
        <p:spPr>
          <a:xfrm>
            <a:off x="775200" y="544625"/>
            <a:ext cx="7569900" cy="681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3F3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Ключевые элементы контроля устойчивости
</a:t>
            </a:r>
            <a:endParaRPr lang="en-US" sz="2200" dirty="0"/>
          </a:p>
        </p:txBody>
      </p:sp>
      <p:sp>
        <p:nvSpPr>
          <p:cNvPr id="9" name="Text 2"/>
          <p:cNvSpPr txBox="1"/>
          <p:nvPr/>
        </p:nvSpPr>
        <p:spPr>
          <a:xfrm>
            <a:off x="1387904" y="1986989"/>
            <a:ext cx="2622900" cy="81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3F3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 под сервисы
</a:t>
            </a:r>
            <a:pPr algn="l" indent="0" marL="0">
              <a:lnSpc>
                <a:spcPct val="115000"/>
              </a:lnSpc>
              <a:buNone/>
            </a:pPr>
            <a:r>
              <a:rPr lang="en-US" sz="500" dirty="0">
                <a:solidFill>
                  <a:srgbClr val="F3F3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3F3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Проектирование начинают с критичных приложений и допустимого времени простоя. От этого зависит, где именно нужно дублировать шлюзы, магистрали и питание.
</a:t>
            </a:r>
            <a:endParaRPr lang="en-US" sz="900" dirty="0"/>
          </a:p>
        </p:txBody>
      </p:sp>
      <p:sp>
        <p:nvSpPr>
          <p:cNvPr id="10" name="Text 3"/>
          <p:cNvSpPr txBox="1"/>
          <p:nvPr/>
        </p:nvSpPr>
        <p:spPr>
          <a:xfrm>
            <a:off x="5831894" y="1992422"/>
            <a:ext cx="2622900" cy="81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3F3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Резервирование инфраструктуры
</a:t>
            </a:r>
            <a:pPr algn="l" indent="0" marL="0">
              <a:lnSpc>
                <a:spcPct val="115000"/>
              </a:lnSpc>
              <a:buNone/>
            </a:pPr>
            <a:r>
              <a:rPr lang="en-US" sz="500" dirty="0">
                <a:solidFill>
                  <a:srgbClr val="F3F3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3F3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Наиболее важные точки — маршрутизаторы, коммутаторы, каналы связи и электропитание. Резерв должен покрывать реальные зоны риска, а не только отдельные устройства.
</a:t>
            </a:r>
            <a:endParaRPr lang="en-US" sz="900" dirty="0"/>
          </a:p>
        </p:txBody>
      </p:sp>
      <p:sp>
        <p:nvSpPr>
          <p:cNvPr id="11" name="Text 4"/>
          <p:cNvSpPr txBox="1"/>
          <p:nvPr/>
        </p:nvSpPr>
        <p:spPr>
          <a:xfrm>
            <a:off x="1387900" y="3481340"/>
            <a:ext cx="2622900" cy="81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3F3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отказов
</a:t>
            </a:r>
            <a:pPr algn="l" indent="0" marL="0">
              <a:lnSpc>
                <a:spcPct val="115000"/>
              </a:lnSpc>
              <a:buNone/>
            </a:pPr>
            <a:r>
              <a:rPr lang="en-US" sz="500" dirty="0">
                <a:solidFill>
                  <a:srgbClr val="F3F3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3F3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Устойчивость подтверждают тестами переключения, мониторингом линков, журналов и состояния протоколов. Это помогает увидеть, как сеть ведёт себя при реальном сбое.
</a:t>
            </a:r>
            <a:endParaRPr lang="en-US" sz="900" dirty="0"/>
          </a:p>
        </p:txBody>
      </p:sp>
      <p:sp>
        <p:nvSpPr>
          <p:cNvPr id="12" name="Text 5"/>
          <p:cNvSpPr txBox="1"/>
          <p:nvPr/>
        </p:nvSpPr>
        <p:spPr>
          <a:xfrm>
            <a:off x="5831875" y="3481340"/>
            <a:ext cx="2622900" cy="81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3F3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Метрики работы
</a:t>
            </a:r>
            <a:pPr algn="l" indent="0" marL="0">
              <a:lnSpc>
                <a:spcPct val="115000"/>
              </a:lnSpc>
              <a:buNone/>
            </a:pPr>
            <a:r>
              <a:rPr lang="en-US" sz="500" dirty="0">
                <a:solidFill>
                  <a:srgbClr val="F3F3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3F3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оценки используют доступность, время восстановления и количество переключений. Эти показатели показывают, насколько быстро сеть возвращается к нормальной работе.
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1500" y="2962482"/>
            <a:ext cx="8490300" cy="1873836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011000" y="863267"/>
            <a:ext cx="6810300" cy="72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3F3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Главный вывод
</a:t>
            </a:r>
            <a:endParaRPr lang="en-US" sz="2200" dirty="0"/>
          </a:p>
        </p:txBody>
      </p:sp>
      <p:sp>
        <p:nvSpPr>
          <p:cNvPr id="5" name="Text 1"/>
          <p:cNvSpPr txBox="1"/>
          <p:nvPr/>
        </p:nvSpPr>
        <p:spPr>
          <a:xfrm>
            <a:off x="1011000" y="1657292"/>
            <a:ext cx="4395600" cy="774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3F3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Отказоустойчивая сеть строится на устранении единых точек отказа, а виртуальные механизмы делают переключение незаметным для пользователей. Надёжность здесь задаётся архитектурой, а не отдельной настройкой.
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2026-05-18T09:30:10Z</dcterms:created>
  <dcterms:modified xsi:type="dcterms:W3CDTF">2026-05-18T09:30:10Z</dcterms:modified>
</cp:coreProperties>
</file>